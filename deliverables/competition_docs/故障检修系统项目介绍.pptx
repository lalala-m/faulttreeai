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19.07.2026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介绍我们的创新项目——FaultTreeAI。这是一个基于知识驱动的工业设备故障树智能诊断系统。它融合了前沿的RAG知识检索、大模型推理、经典的FTA故障分析方法以及多模态视觉诊断技术。我们的技术栈涵盖了FastAPI、React、PostgreSQL等主流框架，旨在为工业设备的故障诊断带来革命性的效率提升和准确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传统的工业设备故障诊断中，我们面临着诸多痛点。首先，构建一棵故障树通常需要资深专家花费长达两到三个月的时间。其次，面对新的故障模式，现有知识难以快速复用，导致问题反复出现。更重要的是，专家的宝贵经验往往是非结构化的，新人培养周期长，知识传承困难。为了解决这些问题，我们提出了全新的解决思路：通过构建企业知识库，利用AI自动生成故障树，并通过专家辅助形成知识闭环，从而彻底改变这一现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FaultTreeAI的具体定位是什么呢？它是一个面向工业场景的FTA，也就是故障树分析的智能辅助系统。它具备五大核心能力：首先是知识沉淀，能够将各类文档自动解析并转化为结构化的知识。其次是智能生成，通过RAG和大模型技术，自动生成符合国际标准的故障树。第三是逻辑校验，确保生成的故障树在格式、结构和逻辑上都准确无误。第四是专家辅助，提供可视化的编辑工具，让专家可以轻松调整和优化。最后是多模态诊断，融合了视觉、语音和视频通话，提供全方位的诊断支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深入了解第一个核心功能：知识库管理。这个过程是自动化的。用户只需上传设备手册、维修记录等文档，系统会自动解析文本内容，并进行智能的语义分块。然后，通过向量化模型将这些文本块转化为向量，并存储在高效的向量数据库中。更重要的是，系统支持用户反馈机制，专家可以对知识的有效性进行评价，从而不断提升知识库的质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核心功能是故障树的智能生成。整个流程非常流畅：用户只需输入想要分析的顶事件，系统便会通过RAG技术精准地从知识库中找到相关信息。然后，大语言模型会基于这些信息，自动生成一棵完整的故障树。生成的故障树会经过严格的三层校验，确保其逻辑严谨。最后，系统会计算出关键的最小割集和结构重要度，并以直观的可视化形式呈现给用户，方便专家进行审核和调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核心功能是交互式诊断。我们的系统不仅仅是生成静态的故障树，更能像一位经验丰富的专家一样与用户进行交互。它可以通过澄清式问诊，动态地提出问题，逐步缩小故障范围。同时，系统会提供清晰的排查步骤引导，帮助用户一步步找到问题所在。它还能智能地复用历史案例，并根据故障树的分析结果，推荐最关键的检查项，大大提高了诊断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核心功能是多模态诊断，我们将视觉和语音能力融入了系统。一方面，通过集成YOLO目标检测算法，系统可以直接分析图片或实时视频流，自动识别设备的异常状态。另一方面，我们集成了实时视频通话技术，现场人员可以与远程专家或AI进行视频连线。AI能够实时分析视频画面，主动发现问题并通过语音提醒，同时还能回答现场人员的语音提问，实现了真正的智能协同诊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用户能够更便捷地使用系统，我们开发了第五个核心功能——飞书机器人接入。用户可以直接在飞书的聊天窗口中与机器人互动，进行故障问答。机器人还提供了各种快捷入口，可以一键启动视频排查或会议诊断。特别值得一提的是，在飞书会议中，AI可以实时分析会议字幕，自动生成诊断建议，极大地提升了团队协作诊断的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系统的整体架构，它清晰地分为五个层次。最底层是数据接入层，负责接收各种格式的文档和实时音视频流。往上是知识处理层，将非结构化数据转化为结构化的向量知识。中间是AI推理层，这是系统的大脑，负责调用大模型进行推理。再往上是计算分析层，利用图计算算法对故障树进行深度分析。最顶层是展示交互层，通过现代化的前端技术和飞书机器人，为用户提供友好的操作界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技术选型紧跟前沿。在模型层面，我们支持多种主流大模型，包括MiniMax、OpenAI、豆包等，具有很高的灵活性。向量数据库采用了性能强大的PostgreSQL和pgvector。后端基于FastAPI框架，保证了高性能和易用性。前端则采用了React 18和Vite，提供了流畅的用户体验。此外，我们还集成了YOLO进行视觉识别，以及BytePlus RTC实现实时通话功能。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故障树分析的核心算法上，我们实现了两个关键算法。第一个是MOCUS算法，用于计算最小割集。它能告诉我们，哪些最基本的故障组合会导致顶事件的发生，这对于快速定位问题至关重要。第二个是Birnbaum结构重要度算法，它可以量化每个底层故障对最终结果的影响程度，从而帮助我们确定排查的优先级，先检查最重要的部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展示了我们系统内部的数据流转过程。当用户输入一个故障问题后，系统首先会通过RAG技术从知识库中找到最相关的信息。然后，大语言模型会利用这些信息生成一棵故障树。这棵故障树会经过严格的校验，确保其正确性。接着，我们的图计算引擎会对这棵树进行深度分析，计算出关键的诊断信息。最后，所有结果会以可视化的方式呈现给用户，并且专家的任何修改都会被记录下来，用于更新和优化知识库，形成一个持续学习的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在部署方面，我们提供了灵活的方案。开发人员可以在Windows环境下进行本地开发和调试。对于生产环境，我们支持在Linux或麒麟操作系统上通过Docker Compose进行部署。我们设计了非常便捷的部署流程，所有需要部署的文件都收敛在一个特定目录下，通过一条rsync命令即可完成同步，再通过一个启动脚本就能一键启动所有服务，大大简化了部署和维护工作。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项目的整体代码结构。项目采用前后端分离的架构，后端基于FastAPI，代码组织清晰，分为api、core、models等模块，每个模块负责特定的功能。前端基于React和Vite，同样模块化地组织了页面和组件。此外，我们还包含了一个Android原生App项目、部署脚本和技术文档。整个结构清晰、规范，便于团队协作和未来的功能扩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FaultTreeAI究竟能带来哪些应用价值呢？首先是效率的巨大提升，故障树的构建时间从过去的数周缩短到了分钟级别。其次是知识的有效复用，专家的宝贵经验被结构化地沉淀下来，降低了新人培养成本。第三，通过RAG技术和严格的校验机制，诊断结果更加准确和可解释。最后，系统覆盖了文本、图片、视频等多种诊断场景，并支持灵活的部署方式，能够满足不同企业的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进行总结。FaultTreeAI系统，本质上是工业知识库、大模型、FTA经典算法以及多模态交互技术的完美结合。我们的最终目标，是打造一个强大的工业设备智能故障诊断助手，推动整个行业的故障分析模式，从依赖少数专家的传统方式，迈向高效、智能、可复制的人机协同新时代。我的介绍到此结束，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5000" b="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1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06400" y="4572000"/>
            <a:ext cx="10160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FaultTreeAI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06400" y="3302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智能诊断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1800" y="5994400"/>
            <a:ext cx="1130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基于知识驱动的工业设备故障树智能诊断系统，融合RAG知识检索、大模型推理、FTA故障分析与多模态视觉诊断技术；技术架构采用FastAPI、React、PostgreSQL、pgvector、MiniMax、YOLO及RTC等前沿组件构建。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30300" y="3302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工业智能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163300" y="317500"/>
            <a:ext cx="6223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LOGO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 flipV="1">
            <a:off x="2654300" y="-2679700"/>
            <a:ext cx="6921500" cy="12255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41412">
                  <a:alpha val="100000"/>
                </a:srgbClr>
              </a:gs>
              <a:gs pos="53000">
                <a:srgbClr val="131518">
                  <a:alpha val="100000"/>
                </a:srgbClr>
              </a:gs>
              <a:gs pos="78000">
                <a:srgbClr val="111734">
                  <a:alpha val="100000"/>
                </a:srgbClr>
              </a:gs>
              <a:gs pos="90000">
                <a:srgbClr val="0F1E51">
                  <a:alpha val="100000"/>
                </a:srgbClr>
              </a:gs>
              <a:gs pos="100000">
                <a:srgbClr val="031968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06400" y="1270000"/>
            <a:ext cx="5384800" cy="166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FFFFFF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2-3个月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>
            <a:off x="-457200" y="7607300"/>
            <a:ext cx="1385570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406400" y="4927600"/>
            <a:ext cx="4851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• 高度依赖资深专家经验，人工构建耗时久、成本高。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• 新型故障模式易被遗漏，历史诊断知识难以有效复用。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• 专家经验多为非结构化信息，新人培养周期长且传承困难。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5791200" y="2159000"/>
            <a:ext cx="571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5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传统故障树构建平均周期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3849">
            <a:off x="406404" y="3422650"/>
            <a:ext cx="113411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/>
        </p:nvCxnSpPr>
        <p:spPr>
          <a:xfrm rot="5385676">
            <a:off x="4114800" y="4946663"/>
            <a:ext cx="30480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007100" y="4826000"/>
            <a:ext cx="273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沉淀知识库：</a:t>
            </a: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整合设备手册、维修日志与历史案例，建立企业级标准化故障数据库，夯实数据基础。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007100" y="3733800"/>
            <a:ext cx="5080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AI赋能解决思路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26500" y="4826000"/>
            <a:ext cx="273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智能生成树：</a:t>
            </a: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利用NLP与机器学习自动提取故障关联规则，秒级生成结构化、标准化的故障树模型。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007100" y="5715000"/>
            <a:ext cx="5549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闭环迭代优化：</a:t>
            </a: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提供专家可视化修正与审核界面，将人工经验与AI模型结合，实现知识的持续迭代与复用。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06400" y="3733800"/>
            <a:ext cx="4826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传统诊断核心痛点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06400" y="330200"/>
            <a:ext cx="762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工业AI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130300" y="330200"/>
            <a:ext cx="1016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智能诊断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1264900" y="3302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方案概览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06400" y="3175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工业智能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5019588">
            <a:off x="11493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333500" y="3175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FTA系统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049000" y="3302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智能辅助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93700" y="647700"/>
            <a:ext cx="1130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5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项目定位：面向工业场景的</a:t>
            </a:r>
            <a:r>
              <a:rPr lang="en-US" sz="45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45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智能辅助系统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431800" y="18796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知识沉淀：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336800" y="1879600"/>
            <a:ext cx="9017000" cy="5334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支持多格式文档上传，自动解析提取关键信息，转化为结构化向量数据并完成知识库入库，实现知识资产数字化。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1800" y="26416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智能生成：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336800" y="2641600"/>
            <a:ext cx="9017000" cy="5334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RAG 检索增强与 LLM 大模型能力，自动生成符合 IEC 61025 / GB/T 7829 标准的故障树，大幅缩短建模周期。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1800" y="34036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逻辑校验：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336800" y="3403600"/>
            <a:ext cx="9017000" cy="5334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执行格式合规性、结构完整性与逻辑一致性三层智能校验，自动识别冗余、冲突与缺失节点，提供纠错建议与优化方案。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1800" y="41656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专家辅助：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336800" y="4165600"/>
            <a:ext cx="9017000" cy="5334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集成 ReactFlow 可视化编辑引擎，支持专家对故障树进行拖拽式节点增删、逻辑关系调整与参数配置，实现人机协同优化。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31800" y="49276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多模态诊断：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336800" y="4927600"/>
            <a:ext cx="9017000" cy="5334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融合工业视觉识别、实时高清视频通话与智能语音交互能力，实现远程现场的多维度协同诊断，提升故障排查效率。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31800" y="5740400"/>
            <a:ext cx="1130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95F69"/>
                </a:solidFill>
                <a:latin typeface="Noto Sans SC"/>
                <a:ea typeface="Noto Sans SC"/>
                <a:cs typeface="Noto Sans SC"/>
                <a:sym typeface="Noto Sans SC"/>
              </a:rPr>
              <a:t>该系统聚焦工业设备可靠性分析与故障诊断的核心痛点，通过人工智能技术重构故障树分析（FTA）的全流程，实现从知识自动化沉淀、智能建模生成到人机协同优化的闭环，为航空航天、能源电力、轨道交通等关键工业领域的安全运维与风险评估提供智能化支撑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06400" y="889000"/>
            <a:ext cx="6350000" cy="147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核心功能一：知识库管理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893">
            <a:off x="533404" y="5099050"/>
            <a:ext cx="1121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B2F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Connector 4"/>
          <p:cNvCxnSpPr/>
          <p:nvPr/>
        </p:nvCxnSpPr>
        <p:spPr>
          <a:xfrm rot="5367872">
            <a:off x="-146050" y="4419630"/>
            <a:ext cx="1358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B2F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685800" y="37211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 文档采集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67872">
            <a:off x="2470150" y="5753130"/>
            <a:ext cx="1358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B2F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Connector 7"/>
          <p:cNvCxnSpPr/>
          <p:nvPr/>
        </p:nvCxnSpPr>
        <p:spPr>
          <a:xfrm rot="5367872">
            <a:off x="5391150" y="4432330"/>
            <a:ext cx="1358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B2F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/>
        </p:nvCxnSpPr>
        <p:spPr>
          <a:xfrm rot="5367872">
            <a:off x="8096250" y="5765830"/>
            <a:ext cx="1358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B2F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44500" y="4991100"/>
            <a:ext cx="190500" cy="190500"/>
          </a:xfrm>
          <a:prstGeom prst="ellipse">
            <a:avLst/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85800" y="40259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文档上传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85800" y="4305300"/>
            <a:ext cx="203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 PDF、Word、TXT、MP4 等多种格式，便捷导入各类设备资料与文档。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314700" y="52705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 智能解析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314700" y="55753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自动解析与分块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314700" y="5854700"/>
            <a:ext cx="203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PyMuPDF 提取文本，按500 tokens大小、50 tokens重叠进行智能语义分块。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37465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 向量化存储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0513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向量化与入库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4330700"/>
            <a:ext cx="203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采用 MiniMax 模型生成1024维 Embedding，高效存储至 PostgreSQL pgvector 向量库。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940800" y="53086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 迭代优化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940800" y="56134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反馈与优化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940800" y="5892800"/>
            <a:ext cx="203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支持用户有效性反馈机制，动态调整专家权重，持续迭代优化知识库精准度。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175500" y="1447800"/>
            <a:ext cx="4597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知识库管理是智能问答系统的核心基座，实现从非结构化文档到结构化向量的自动化转化。</a:t>
            </a:r>
            <a:endParaRPr lang="en-US" sz="1100"/>
          </a:p>
          <a:p>
            <a:pPr marL="0" indent="0" algn="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通过标准化的处理流程与反馈闭环，保障知识的准确性与时效性，为智能交互提供坚实支撑。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3060700" y="5003800"/>
            <a:ext cx="190500" cy="190500"/>
          </a:xfrm>
          <a:prstGeom prst="ellipse">
            <a:avLst/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5969000" y="5003800"/>
            <a:ext cx="190500" cy="190500"/>
          </a:xfrm>
          <a:prstGeom prst="ellipse">
            <a:avLst/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686800" y="5003800"/>
            <a:ext cx="190500" cy="190500"/>
          </a:xfrm>
          <a:prstGeom prst="ellipse">
            <a:avLst/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1176000" y="3302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智能基座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06400" y="317500"/>
            <a:ext cx="635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130300" y="317500"/>
            <a:ext cx="635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知识工程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06400" y="889000"/>
            <a:ext cx="11176000" cy="147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核心功能二：故障树智能生成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06400" y="3175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智能分析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019588">
            <a:off x="11493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295400" y="3175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故障诊断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176000" y="3302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175500" y="1447800"/>
            <a:ext cx="4597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基于RAG检索增强与大语言模型技术的自动化构建方案，打通从需求输入到可视化分析的全流程。</a:t>
            </a:r>
            <a:endParaRPr lang="en-US" sz="1100"/>
          </a:p>
          <a:p>
            <a:pPr marL="0" indent="0" algn="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无需人工繁琐绘制，即可快速生成符合逻辑的故障树结构，为可靠性分析提供智能辅助支持。</a:t>
            </a:r>
          </a:p>
          <a:p>
            <a:pPr marL="0" indent="0" algn="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结合图计算与交互式可视化技术，让故障分析结果直观呈现，便于专家审核与优化。</a:t>
            </a:r>
          </a:p>
        </p:txBody>
      </p:sp>
      <p:cxnSp>
        <p:nvCxnSpPr>
          <p:cNvPr id="8" name="Connector 8"/>
          <p:cNvCxnSpPr/>
          <p:nvPr/>
        </p:nvCxnSpPr>
        <p:spPr>
          <a:xfrm rot="-3893">
            <a:off x="533404" y="5099050"/>
            <a:ext cx="1121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B2F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Connector 9"/>
          <p:cNvCxnSpPr/>
          <p:nvPr/>
        </p:nvCxnSpPr>
        <p:spPr>
          <a:xfrm rot="5367872">
            <a:off x="-146050" y="4419630"/>
            <a:ext cx="1358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B2F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Connector 10"/>
          <p:cNvCxnSpPr/>
          <p:nvPr/>
        </p:nvCxnSpPr>
        <p:spPr>
          <a:xfrm rot="5367872">
            <a:off x="2470150" y="5753130"/>
            <a:ext cx="1358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B2F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Connector 11"/>
          <p:cNvCxnSpPr/>
          <p:nvPr/>
        </p:nvCxnSpPr>
        <p:spPr>
          <a:xfrm rot="5367872">
            <a:off x="5391150" y="4432330"/>
            <a:ext cx="1358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B2F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Connector 12"/>
          <p:cNvCxnSpPr/>
          <p:nvPr/>
        </p:nvCxnSpPr>
        <p:spPr>
          <a:xfrm rot="5367872">
            <a:off x="8096250" y="5765830"/>
            <a:ext cx="1358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B2F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44500" y="4991100"/>
            <a:ext cx="190500" cy="190500"/>
          </a:xfrm>
          <a:prstGeom prst="ellipse">
            <a:avLst/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3060700" y="5003800"/>
            <a:ext cx="190500" cy="190500"/>
          </a:xfrm>
          <a:prstGeom prst="ellipse">
            <a:avLst/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969000" y="5003800"/>
            <a:ext cx="190500" cy="190500"/>
          </a:xfrm>
          <a:prstGeom prst="ellipse">
            <a:avLst/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686800" y="5003800"/>
            <a:ext cx="190500" cy="190500"/>
          </a:xfrm>
          <a:prstGeom prst="ellipse">
            <a:avLst/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85800" y="37211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STEP 01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85800" y="40259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输入与召回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85800" y="43053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95F69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用户输入待分析的顶事件，系统通过RAG检索增强技术，从故障知识库中精准召回相关文档片段与历史案例数据。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314700" y="52705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STEP 02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314700" y="55753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LLM智能生成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314700" y="58547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95F69"/>
                </a:solidFill>
                <a:latin typeface="Noto Sans SC"/>
                <a:ea typeface="Noto Sans SC"/>
                <a:cs typeface="Noto Sans SC"/>
                <a:sym typeface="Noto Sans SC"/>
              </a:rPr>
              <a:t>大语言模型（如MiniMax）基于召回知识，自动解析并生成符合行业标准规范的JSON格式故障树结构数据。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37465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STEP 03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40513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三层合规校验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23000" y="43307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95F69"/>
                </a:solidFill>
                <a:latin typeface="Noto Sans SC"/>
                <a:ea typeface="Noto Sans SC"/>
                <a:cs typeface="Noto Sans SC"/>
                <a:sym typeface="Noto Sans SC"/>
              </a:rPr>
              <a:t>对生成的故障树执行三层严格校验：格式完整性、结构合理性、逻辑因果一致性，全方位保障模型准确性。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940800" y="53086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STEP 04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940800" y="56134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计算与可视化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940800" y="58928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95F69"/>
                </a:solidFill>
                <a:latin typeface="Noto Sans SC"/>
                <a:ea typeface="Noto Sans SC"/>
                <a:cs typeface="Noto Sans SC"/>
                <a:sym typeface="Noto Sans SC"/>
              </a:rPr>
              <a:t>利用NetworkX计算最小割集与结构重要度，通过ReactFlow实现故障树的交互式可视化展示与在线编辑。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0648" r="8449"/>
          <a:stretch>
            <a:fillRect/>
          </a:stretch>
        </p:blipFill>
        <p:spPr>
          <a:xfrm>
            <a:off x="0" y="0"/>
            <a:ext cx="8877300" cy="685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406400" y="5664200"/>
            <a:ext cx="6350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核心功能三：交互式诊断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 rot="10800000">
            <a:off x="7912100" y="0"/>
            <a:ext cx="42799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19100" y="5143500"/>
            <a:ext cx="73533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交互式诊断将静态故障树转化为主动专家系统，通过动态对话与推理精准定位问题。系统结合历史案例与智能排序，引导用户高效排查，大幅降低运维成本。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16900" y="1028700"/>
            <a:ext cx="3556000" cy="1155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智能交互诊断体系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不再依赖人工经验的被动响应，而是以AI驱动的主动问诊模式，通过多轮对话逐步收敛故障范围。系统融合故障树分析与大语言模型能力，为复杂设备与系统的故障排查提供智能化、自动化的解决方案。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8216900" y="5981700"/>
            <a:ext cx="355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从经验驱动转向数据与模型双驱，交互式诊断让运维从“试错排查”升级为“精准制导”，全面提升故障解决效率。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216900" y="25781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033000" y="25781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033000" y="35433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407400" y="27178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澄清式问诊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LLM动态生成问题，多轮对话精准定位故障根源。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223500" y="27178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排查步骤引导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按最优路径引导逐项检查，实时推理定位问题。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216900" y="35433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407400" y="36830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历史案例复用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匹配相似历史故障树与案例，提供参考依据。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0223500" y="36830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连续排查模式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基于重要度排序，智能推荐下一步检查项。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06400" y="330200"/>
            <a:ext cx="5715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130300" y="330200"/>
            <a:ext cx="5715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智能运维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1264900" y="330200"/>
            <a:ext cx="5842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功能解析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 flipV="1">
            <a:off x="2654300" y="-2679700"/>
            <a:ext cx="6921500" cy="12255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41412">
                  <a:alpha val="100000"/>
                </a:srgbClr>
              </a:gs>
              <a:gs pos="53000">
                <a:srgbClr val="131518">
                  <a:alpha val="100000"/>
                </a:srgbClr>
              </a:gs>
              <a:gs pos="78000">
                <a:srgbClr val="111734">
                  <a:alpha val="100000"/>
                </a:srgbClr>
              </a:gs>
              <a:gs pos="90000">
                <a:srgbClr val="0F1E51">
                  <a:alpha val="100000"/>
                </a:srgbClr>
              </a:gs>
              <a:gs pos="100000">
                <a:srgbClr val="031968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06400" y="1270000"/>
            <a:ext cx="5384800" cy="166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FFFFFF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多模态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>
            <a:off x="-457200" y="7607300"/>
            <a:ext cx="1385570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406400" y="4927600"/>
            <a:ext cx="4851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• 基于YOLO11/12算法实现高精度设备异常目标检测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• 支持本地图片上传解析与摄像头实时画面流识别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• 智能识别结果自动关联故障树，同步更新诊断节点</a:t>
            </a:r>
          </a:p>
        </p:txBody>
      </p:sp>
      <p:sp>
        <p:nvSpPr>
          <p:cNvPr id="6" name="AutoShape 6"/>
          <p:cNvSpPr/>
          <p:nvPr/>
        </p:nvSpPr>
        <p:spPr>
          <a:xfrm>
            <a:off x="5791200" y="2159000"/>
            <a:ext cx="508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5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融合多种诊断方式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3849">
            <a:off x="406404" y="3422650"/>
            <a:ext cx="113411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/>
        </p:nvCxnSpPr>
        <p:spPr>
          <a:xfrm rot="5385676">
            <a:off x="4114800" y="4946663"/>
            <a:ext cx="30480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007100" y="3733800"/>
            <a:ext cx="5461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5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实时</a:t>
            </a:r>
            <a:r>
              <a:rPr lang="en-US" sz="45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AI </a:t>
            </a:r>
            <a:r>
              <a:rPr lang="en-US" sz="45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视频通话</a:t>
            </a:r>
            <a:r>
              <a:rPr lang="en-US" sz="45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007100" y="4826000"/>
            <a:ext cx="546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2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集成BytePlus</a:t>
            </a:r>
            <a:r>
              <a:rPr lang="en-US" sz="12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RTC引擎，保障弱网下低延迟音视频互通，实现远程专家实时连线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6007100" y="5334000"/>
            <a:ext cx="546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• AI持续分析通话视频流，自动识别画面中设备异常并即时语音提醒现场人员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007100" y="5842000"/>
            <a:ext cx="546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• 支持语音提问与AI智能语音回复，实现人机自然对话式故障排查与指导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06400" y="3733800"/>
            <a:ext cx="48514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视觉识别 (YOLO)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06400" y="330200"/>
            <a:ext cx="762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130300" y="330200"/>
            <a:ext cx="1016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智能诊断系统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1264900" y="3302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功能介绍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0648" r="8449"/>
          <a:stretch>
            <a:fillRect/>
          </a:stretch>
        </p:blipFill>
        <p:spPr>
          <a:xfrm>
            <a:off x="-158749" y="-1"/>
            <a:ext cx="8877300" cy="685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96619" y="4076701"/>
            <a:ext cx="7524904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5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核心功能五：飞书机器人接入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 rot="10800000">
            <a:off x="8105776" y="0"/>
            <a:ext cx="42799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19100" y="5143500"/>
            <a:ext cx="73533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飞书机器人接入实现了即时通讯与故障诊断的无缝融合，将设备运维能力嵌入日常沟通场景，无需切换应用即可快速发起咨询、获取解答，大幅缩短问题响应与处理的周期。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16900" y="1028700"/>
            <a:ext cx="3556000" cy="1155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功能价值概述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把故障咨询、智能问答和远程诊断能力直接融入飞书沟通环境，打破工具与沟通的壁垒。无论是单人咨询还是团队协作排查，都能在熟悉的聊天界面内快速完成，提升运维响应的敏捷性。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8271585" y="4737099"/>
            <a:ext cx="355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飞书机器人作为智能运维的交互入口，让设备故障的咨询、诊断与协作变得更加高效、轻量化，成为团队高效运维的有力支撑</a:t>
            </a:r>
            <a:r>
              <a:rPr lang="en-US" sz="12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8216900" y="25781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033000" y="25781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033000" y="35433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407400" y="27178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消息接入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私聊或群聊@机器人，快速发起故障咨询与上报。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223500" y="27178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智能问答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基于知识库自动回复设备故障常见问题与方案。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216900" y="35433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407400" y="36830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快捷入口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一键打开视频排查、会议诊断、网页诊断工具。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0223500" y="36830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会议诊断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预约飞书会议，AI分析实时字幕生成初步诊断。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06400" y="330200"/>
            <a:ext cx="5715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130300" y="330200"/>
            <a:ext cx="5715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飞书运维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1264900" y="330200"/>
            <a:ext cx="5842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功能手册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43900" y="1435100"/>
            <a:ext cx="1092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 数据接入层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06400" y="889000"/>
            <a:ext cx="3606800" cy="154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（五层）</a:t>
            </a:r>
          </a:p>
        </p:txBody>
      </p:sp>
      <p:sp>
        <p:nvSpPr>
          <p:cNvPr id="4" name="AutoShape 4"/>
          <p:cNvSpPr/>
          <p:nvPr/>
        </p:nvSpPr>
        <p:spPr>
          <a:xfrm>
            <a:off x="406400" y="5651500"/>
            <a:ext cx="2349500" cy="749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本架构实现从多源异构数据接入到智能决策分析的全链路闭环，通过五层协同保障系统的智能化处理与高效交互，支撑业务场景的智能决策需求。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2849" r="1709"/>
          <a:stretch>
            <a:fillRect/>
          </a:stretch>
        </p:blipFill>
        <p:spPr>
          <a:xfrm>
            <a:off x="3556000" y="406400"/>
            <a:ext cx="4254500" cy="6057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6" name="Connector 6"/>
          <p:cNvCxnSpPr/>
          <p:nvPr/>
        </p:nvCxnSpPr>
        <p:spPr>
          <a:xfrm rot="-10261">
            <a:off x="7518409" y="1733550"/>
            <a:ext cx="42545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Connector 7"/>
          <p:cNvCxnSpPr/>
          <p:nvPr/>
        </p:nvCxnSpPr>
        <p:spPr>
          <a:xfrm rot="-9444">
            <a:off x="7150109" y="2736850"/>
            <a:ext cx="46228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/>
        </p:nvCxnSpPr>
        <p:spPr>
          <a:xfrm rot="-10261">
            <a:off x="7518409" y="3752850"/>
            <a:ext cx="42545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Connector 9"/>
          <p:cNvCxnSpPr/>
          <p:nvPr/>
        </p:nvCxnSpPr>
        <p:spPr>
          <a:xfrm rot="-10844">
            <a:off x="7747010" y="4781550"/>
            <a:ext cx="40259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8343900" y="2425700"/>
            <a:ext cx="1092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 知识处理层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343900" y="3467100"/>
            <a:ext cx="1092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 AI 推理层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343900" y="4483100"/>
            <a:ext cx="1092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 计算分析层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639300" y="1765300"/>
            <a:ext cx="21209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支持PDF、DOCX、TXT、MP4、摄像头流及RTC实时音视频的多源异构数据统一接入与解析。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639300" y="2768600"/>
            <a:ext cx="21209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完成文档解析、内容分块与向量化转换，将知识存储至PostgreSQL pgvector向量数据库。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639300" y="3784600"/>
            <a:ext cx="21209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基于RAG检索增强生成，动态构建Prompt，调用LLM/VLM推理并输出标准JSON格式结果。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639300" y="4813300"/>
            <a:ext cx="21209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通过NetworkX构建关系图，利用MOCUS算法计算最小割集，结合Birnbaum模型分析节点重要度。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807700" y="5791200"/>
            <a:ext cx="10668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00000">
                    <a:alpha val="49804"/>
                  </a:srgbClr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5.0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06400" y="3746500"/>
            <a:ext cx="11811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智能交互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06400" y="2997200"/>
            <a:ext cx="11811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多源接入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714500" y="2997200"/>
            <a:ext cx="11811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知识图谱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06400" y="3378200"/>
            <a:ext cx="11811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模型推理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714500" y="3378200"/>
            <a:ext cx="11811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图计算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1264900" y="330200"/>
            <a:ext cx="5842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架构设计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06400" y="317500"/>
            <a:ext cx="5842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130300" y="317500"/>
            <a:ext cx="5842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智能系统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93700" y="647700"/>
            <a:ext cx="4749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31800" y="1879600"/>
            <a:ext cx="158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核心模型：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336800" y="1892300"/>
            <a:ext cx="12700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MiniMax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784600" y="1892300"/>
            <a:ext cx="12700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OpenAI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232400" y="1892300"/>
            <a:ext cx="12700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豆包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680200" y="1892300"/>
            <a:ext cx="12700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Ollama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1800" y="2324100"/>
            <a:ext cx="158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向量化引擎：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336800" y="2336800"/>
            <a:ext cx="15240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MiniMax embo-01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038600" y="2336800"/>
            <a:ext cx="12700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OpenAI Embedding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486400" y="2336800"/>
            <a:ext cx="12700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Ollama Embedding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1800" y="2781300"/>
            <a:ext cx="158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检索增强：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336800" y="2794000"/>
            <a:ext cx="20320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LangChain 0.3.x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46600" y="2794000"/>
            <a:ext cx="15240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 Chain 框架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31800" y="3213100"/>
            <a:ext cx="158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向量存储：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336800" y="3225800"/>
            <a:ext cx="17780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PostgreSQL 18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292600" y="3225800"/>
            <a:ext cx="17780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pgvector (HNSW)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31800" y="3632200"/>
            <a:ext cx="158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后端架构：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336800" y="3644900"/>
            <a:ext cx="12700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FastAPI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784600" y="3644900"/>
            <a:ext cx="13970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SQLAlchemy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359400" y="3644900"/>
            <a:ext cx="12700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Pydantic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31800" y="4064000"/>
            <a:ext cx="158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智能计算：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2336800" y="4076700"/>
            <a:ext cx="12700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NetworkX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784600" y="4076700"/>
            <a:ext cx="12700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YOLO 11/12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232400" y="4076700"/>
            <a:ext cx="12700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OpenCV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93700" y="4876800"/>
            <a:ext cx="16129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交互与前端：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2298700" y="4889500"/>
            <a:ext cx="12700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React 18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3759200" y="4889500"/>
            <a:ext cx="12700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Vite + AntD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5207000" y="4889500"/>
            <a:ext cx="12700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BytePlus RTC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431800" y="5664200"/>
            <a:ext cx="50038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展示了平台全栈技术选型，覆盖从底层模型调用、向量化检索、后端服务支撑到前端交互的完整技术链路。核心采用主流开源与商用模型结合的方式，兼顾灵活性与性能，同时集成视觉识别与实时通信能力，打造多模态交互体验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5994400" y="5664200"/>
            <a:ext cx="58420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技术架构设计注重可扩展性与高性能，利用FastAPI实现高效后端服务，PostgreSQL结合pgvector提供可靠的向量检索能力，前端基于React生态保障交互流畅度。同时通过YOLO系列模型赋能视觉分析，BytePlus RTC实现低延迟实时音视频通信，满足多样化的业务场景需求。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1264900" y="330200"/>
            <a:ext cx="5715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406400" y="317500"/>
            <a:ext cx="5715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全栈选型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130300" y="317500"/>
            <a:ext cx="5715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技术概览</a:t>
            </a:r>
            <a:endParaRPr lang="en-US" sz="1100"/>
          </a:p>
        </p:txBody>
      </p:sp>
      <p:cxnSp>
        <p:nvCxnSpPr>
          <p:cNvPr id="35" name="Connector 35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 flipV="1">
            <a:off x="2654300" y="-2679700"/>
            <a:ext cx="6921500" cy="12255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41412">
                  <a:alpha val="100000"/>
                </a:srgbClr>
              </a:gs>
              <a:gs pos="53000">
                <a:srgbClr val="131518">
                  <a:alpha val="100000"/>
                </a:srgbClr>
              </a:gs>
              <a:gs pos="78000">
                <a:srgbClr val="111734">
                  <a:alpha val="100000"/>
                </a:srgbClr>
              </a:gs>
              <a:gs pos="90000">
                <a:srgbClr val="0F1E51">
                  <a:alpha val="100000"/>
                </a:srgbClr>
              </a:gs>
              <a:gs pos="100000">
                <a:srgbClr val="031968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06400" y="330200"/>
            <a:ext cx="762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核心算法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019588">
            <a:off x="11493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333500" y="330200"/>
            <a:ext cx="1016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故障树分析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176000" y="3302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FTA解析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06400" y="1270000"/>
            <a:ext cx="5384800" cy="166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FFFFFF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791200" y="2159000"/>
            <a:ext cx="571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5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故障树分析的两大核心算法支柱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3849">
            <a:off x="406404" y="3422650"/>
            <a:ext cx="113411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Connector 10"/>
          <p:cNvCxnSpPr/>
          <p:nvPr/>
        </p:nvCxnSpPr>
        <p:spPr>
          <a:xfrm rot="5385676">
            <a:off x="4114800" y="4946663"/>
            <a:ext cx="30480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406400" y="3733800"/>
            <a:ext cx="4826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MOCUS 最小割集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06400" y="4927600"/>
            <a:ext cx="4851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● 递归解析AND/OR逻辑门结构，精确计算导致顶事件发生的最小故障组合，定位系统失效的根本模式。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● 结果按阶数排序输出，可直接指导现场运维人员快速锁定关键故障源，缩短排查响应时间。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007100" y="3733800"/>
            <a:ext cx="59309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5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Birnbaum </a:t>
            </a:r>
            <a:r>
              <a:rPr lang="en-US" sz="45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结构重要度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6007100" y="4927600"/>
            <a:ext cx="2730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量化每个底事件对顶事件发生的影响程度，为故障排查顺序提供科学的优先级判定依据。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826500" y="4927600"/>
            <a:ext cx="2730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识别系统中敏感度最高的薄弱环节，辅助制定针对性的设备维护、冗余设计与风险管控策略。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007100" y="5867400"/>
            <a:ext cx="55499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4C8FF"/>
                </a:solidFill>
                <a:latin typeface="Noto Sans SC"/>
                <a:ea typeface="Noto Sans SC"/>
                <a:cs typeface="Noto Sans SC"/>
                <a:sym typeface="Noto Sans SC"/>
              </a:rPr>
              <a:t>计算公式：</a:t>
            </a:r>
            <a:r>
              <a:rPr lang="en-US" sz="13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I_B(i) = P(T=1|X_i=1) - P(T=1|X_i=0)，反映单元状态变化对顶事件的直接贡献。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06400" y="889000"/>
            <a:ext cx="3771900" cy="147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数据流程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893">
            <a:off x="533404" y="5099050"/>
            <a:ext cx="1121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B2F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Connector 4"/>
          <p:cNvCxnSpPr/>
          <p:nvPr/>
        </p:nvCxnSpPr>
        <p:spPr>
          <a:xfrm rot="5367872">
            <a:off x="-146050" y="4419630"/>
            <a:ext cx="1358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B2F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685800" y="37211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STEP 01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67872">
            <a:off x="2470150" y="5753130"/>
            <a:ext cx="1358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B2F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Connector 7"/>
          <p:cNvCxnSpPr/>
          <p:nvPr/>
        </p:nvCxnSpPr>
        <p:spPr>
          <a:xfrm rot="5367872">
            <a:off x="5391150" y="4432330"/>
            <a:ext cx="1358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B2F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/>
        </p:nvCxnSpPr>
        <p:spPr>
          <a:xfrm rot="5367872">
            <a:off x="8096250" y="5765830"/>
            <a:ext cx="1358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B2F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44500" y="4991100"/>
            <a:ext cx="190500" cy="190500"/>
          </a:xfrm>
          <a:prstGeom prst="ellipse">
            <a:avLst/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85800" y="40259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输入与检索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85800" y="4305300"/>
            <a:ext cx="203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用户输入顶事件，系统通过RAG从向量数据库中检索相关领域知识，为后续分析奠定基础。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314700" y="52705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STEP 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314700" y="55753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LLM生成与校验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314700" y="5854700"/>
            <a:ext cx="203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大语言模型依据检索结果生成JSON格式故障树，并通过逻辑、完整性、合规性三层校验保障准确。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37465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STEP 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0513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图计算分析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4330700"/>
            <a:ext cx="203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利用NetworkX进行图计算分析，自动推导出故障树的最小割集，并计算各基本事件的结构重要度。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940800" y="53086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STEP 04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940800" y="56134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可视化与反馈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940800" y="5892800"/>
            <a:ext cx="203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结果在ReactFlow中可视化展示，支持专家在线编辑与修正，编辑结果自动反哺知识库实现迭代。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175500" y="1447800"/>
            <a:ext cx="4597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基于RAG检索增强与大语言模型的智能故障树分析系统，构建从问题输入到结果反馈的自动化闭环。</a:t>
            </a:r>
            <a:endParaRPr lang="en-US" sz="1100"/>
          </a:p>
          <a:p>
            <a:pPr marL="0" indent="0" algn="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融合图计算与可视化技术，实现故障诊断的智能化、可视化与知识持续优化，提升分析效率与准确性。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3060700" y="5003800"/>
            <a:ext cx="190500" cy="190500"/>
          </a:xfrm>
          <a:prstGeom prst="ellipse">
            <a:avLst/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5969000" y="5003800"/>
            <a:ext cx="190500" cy="190500"/>
          </a:xfrm>
          <a:prstGeom prst="ellipse">
            <a:avLst/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686800" y="5003800"/>
            <a:ext cx="190500" cy="190500"/>
          </a:xfrm>
          <a:prstGeom prst="ellipse">
            <a:avLst/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1264900" y="3302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智能诊断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06400" y="3175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流程架构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130300" y="3175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故障树分析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965200" y="1727200"/>
            <a:ext cx="4152900" cy="6096000"/>
          </a:xfrm>
          <a:prstGeom prst="roundRect">
            <a:avLst>
              <a:gd name="adj" fmla="val 0"/>
            </a:avLst>
          </a:prstGeom>
          <a:solidFill>
            <a:srgbClr val="020E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31800" y="381000"/>
            <a:ext cx="16637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部署架构方案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136900" y="1435100"/>
            <a:ext cx="2082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高效交付体系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6921" t="3397" r="4295" b="3821"/>
          <a:stretch>
            <a:fillRect/>
          </a:stretch>
        </p:blipFill>
        <p:spPr>
          <a:xfrm>
            <a:off x="6972300" y="1016000"/>
            <a:ext cx="4724400" cy="5549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6" name="Connector 6"/>
          <p:cNvCxnSpPr/>
          <p:nvPr/>
        </p:nvCxnSpPr>
        <p:spPr>
          <a:xfrm rot="5393692">
            <a:off x="2635250" y="3454406"/>
            <a:ext cx="69215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00000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431800" y="685800"/>
            <a:ext cx="4724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构建从本地开发调试到生产环境容器化部署的完整链路，通过标准化目录与自动化脚本提升运维效率。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38900" y="381000"/>
            <a:ext cx="1066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架构视图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标准化部署</a:t>
            </a:r>
          </a:p>
        </p:txBody>
      </p:sp>
      <p:sp>
        <p:nvSpPr>
          <p:cNvPr id="9" name="AutoShape 9"/>
          <p:cNvSpPr/>
          <p:nvPr/>
        </p:nvSpPr>
        <p:spPr>
          <a:xfrm>
            <a:off x="431800" y="3467100"/>
            <a:ext cx="5118100" cy="723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4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部署架构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8050">
            <a:off x="431807" y="4375150"/>
            <a:ext cx="54229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Connector 11"/>
          <p:cNvCxnSpPr/>
          <p:nvPr/>
        </p:nvCxnSpPr>
        <p:spPr>
          <a:xfrm rot="-8050">
            <a:off x="431807" y="4692650"/>
            <a:ext cx="54229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Connector 12"/>
          <p:cNvCxnSpPr/>
          <p:nvPr/>
        </p:nvCxnSpPr>
        <p:spPr>
          <a:xfrm rot="-8050">
            <a:off x="431807" y="4997450"/>
            <a:ext cx="54229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Connector 13"/>
          <p:cNvCxnSpPr/>
          <p:nvPr/>
        </p:nvCxnSpPr>
        <p:spPr>
          <a:xfrm rot="-8050">
            <a:off x="431807" y="5302250"/>
            <a:ext cx="54229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Connector 14"/>
          <p:cNvCxnSpPr/>
          <p:nvPr/>
        </p:nvCxnSpPr>
        <p:spPr>
          <a:xfrm rot="-8050">
            <a:off x="431807" y="5607050"/>
            <a:ext cx="54229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Connector 15"/>
          <p:cNvCxnSpPr/>
          <p:nvPr/>
        </p:nvCxnSpPr>
        <p:spPr>
          <a:xfrm rot="-8050">
            <a:off x="431807" y="5924550"/>
            <a:ext cx="54229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Connector 16"/>
          <p:cNvCxnSpPr/>
          <p:nvPr/>
        </p:nvCxnSpPr>
        <p:spPr>
          <a:xfrm rot="-8050">
            <a:off x="431807" y="6229350"/>
            <a:ext cx="54229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Connector 17"/>
          <p:cNvCxnSpPr/>
          <p:nvPr/>
        </p:nvCxnSpPr>
        <p:spPr>
          <a:xfrm rot="-8050">
            <a:off x="431807" y="6534150"/>
            <a:ext cx="54229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31800" y="44450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本地开发环境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31800" y="47498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生产部署环境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689100" y="4432300"/>
            <a:ext cx="330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Windows + PostgreSQL + Python + Node.js 技术栈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31800" y="50546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部署包收敛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31800" y="53721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文件同步方式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31800" y="56769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服务启动脚本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31800" y="59817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部署优势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689100" y="4749800"/>
            <a:ext cx="330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Linux / 麒麟操作系统 + Docker Compose 容器化编排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689100" y="5054600"/>
            <a:ext cx="330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所有同步文件统一归集至 deploy/vm/ 目录管理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689100" y="5372100"/>
            <a:ext cx="330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rsync 命令实现本地到虚拟机的高效增量同步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689100" y="5676900"/>
            <a:ext cx="330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执行 scripts/start_kylin.sh 一键拉起所有微服务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689100" y="5981700"/>
            <a:ext cx="330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标准化流程降低运维成本，实现快速交付与回滚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3136900" y="1727200"/>
            <a:ext cx="2298700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通过目录收敛与自动化脚本，将部署步骤标准化，极大减少人工操作失误，提升交付效率。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431800" y="1435100"/>
            <a:ext cx="1663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多端环境适配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31800" y="1727200"/>
            <a:ext cx="2082800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开发端基于Windows环境快速调试，生产端采用国产系统与容器化技术保障稳定运行。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5331254">
            <a:off x="2463800" y="1784413"/>
            <a:ext cx="635000" cy="12700"/>
          </a:xfrm>
          <a:prstGeom prst="straightConnector1">
            <a:avLst/>
          </a:prstGeom>
          <a:solidFill>
            <a:srgbClr val="DEE0E3">
              <a:alpha val="18000"/>
            </a:srgbClr>
          </a:solidFill>
          <a:ln w="12700" cap="flat" cmpd="sng">
            <a:solidFill>
              <a:srgbClr val="000000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965200" y="1727200"/>
            <a:ext cx="4152900" cy="6096000"/>
          </a:xfrm>
          <a:prstGeom prst="roundRect">
            <a:avLst>
              <a:gd name="adj" fmla="val 0"/>
            </a:avLst>
          </a:prstGeom>
          <a:solidFill>
            <a:srgbClr val="020E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31800" y="381000"/>
            <a:ext cx="16637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项目架构概览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31800" y="685800"/>
            <a:ext cx="4724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采用前后端分离的模块化架构设计，覆盖服务端、客户端及运维部署全链路，保障系统的可扩展性与协作效率。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31800" y="1435100"/>
            <a:ext cx="1663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后端服务层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1800" y="1727200"/>
            <a:ext cx="20828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基于FastAPI框架构建，拆分api、core、services等模块，封装LLM推理、RAG检索及故障树分析的核心业务逻辑，提供高性能接口服务。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31254">
            <a:off x="2463800" y="1784413"/>
            <a:ext cx="635000" cy="12700"/>
          </a:xfrm>
          <a:prstGeom prst="straightConnector1">
            <a:avLst/>
          </a:prstGeom>
          <a:solidFill>
            <a:srgbClr val="DEE0E3">
              <a:alpha val="18000"/>
            </a:srgbClr>
          </a:solidFill>
          <a:ln w="12700" cap="flat" cmpd="sng">
            <a:solidFill>
              <a:srgbClr val="000000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3136900" y="1435100"/>
            <a:ext cx="2082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前端与应用层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136900" y="1727200"/>
            <a:ext cx="22987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Web端采用React+Vite开发，模块化管理Dashboard与可视化组件；配套Android原生应用，实现多端协同的交互体验与数据展示。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1800" y="3467100"/>
            <a:ext cx="5118100" cy="723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4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核心目录结构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8050">
            <a:off x="431807" y="4375150"/>
            <a:ext cx="54229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Connector 12"/>
          <p:cNvCxnSpPr/>
          <p:nvPr/>
        </p:nvCxnSpPr>
        <p:spPr>
          <a:xfrm rot="-8050">
            <a:off x="431807" y="4692650"/>
            <a:ext cx="54229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Connector 13"/>
          <p:cNvCxnSpPr/>
          <p:nvPr/>
        </p:nvCxnSpPr>
        <p:spPr>
          <a:xfrm rot="-8050">
            <a:off x="431807" y="4997450"/>
            <a:ext cx="54229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Connector 14"/>
          <p:cNvCxnSpPr/>
          <p:nvPr/>
        </p:nvCxnSpPr>
        <p:spPr>
          <a:xfrm rot="-8050">
            <a:off x="431807" y="5302250"/>
            <a:ext cx="54229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Connector 15"/>
          <p:cNvCxnSpPr/>
          <p:nvPr/>
        </p:nvCxnSpPr>
        <p:spPr>
          <a:xfrm rot="-8050">
            <a:off x="431807" y="5607050"/>
            <a:ext cx="54229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Connector 16"/>
          <p:cNvCxnSpPr/>
          <p:nvPr/>
        </p:nvCxnSpPr>
        <p:spPr>
          <a:xfrm rot="-8050">
            <a:off x="431807" y="5924550"/>
            <a:ext cx="54229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Connector 17"/>
          <p:cNvCxnSpPr/>
          <p:nvPr/>
        </p:nvCxnSpPr>
        <p:spPr>
          <a:xfrm rot="-8050">
            <a:off x="431807" y="6229350"/>
            <a:ext cx="54229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31800" y="4445000"/>
            <a:ext cx="838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backend/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689100" y="44323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FastAPI后端，路由与核心逻辑层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054600" y="44450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Core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31800" y="4749800"/>
            <a:ext cx="838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frontend/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689100" y="47498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React+Vite前端，可视化交互界面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054600" y="47498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Web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31800" y="5054600"/>
            <a:ext cx="838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android-app/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689100" y="50546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Android原生应用，移动端适配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054600" y="50546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App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31800" y="5372100"/>
            <a:ext cx="838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deploy/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689100" y="53721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部署脚本与虚拟机配置包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5054600" y="53721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Ops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431800" y="5676900"/>
            <a:ext cx="838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docs/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689100" y="56769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技术方案、接口与使用文档集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5054600" y="56769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Doc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431800" y="5981700"/>
            <a:ext cx="838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scripts/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689100" y="59817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数据初始化与运维辅助脚本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5054600" y="59817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Tool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431800" y="6299200"/>
            <a:ext cx="838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models/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1689100" y="62992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Pydantic数据模型与类型定义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5054600" y="62992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Data</a:t>
            </a:r>
            <a:endParaRPr lang="en-US" sz="1100"/>
          </a:p>
        </p:txBody>
      </p:sp>
      <p:cxnSp>
        <p:nvCxnSpPr>
          <p:cNvPr id="39" name="Connector 39"/>
          <p:cNvCxnSpPr/>
          <p:nvPr/>
        </p:nvCxnSpPr>
        <p:spPr>
          <a:xfrm rot="5393692">
            <a:off x="2635250" y="3454406"/>
            <a:ext cx="69215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00000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AutoShape 40"/>
          <p:cNvSpPr/>
          <p:nvPr/>
        </p:nvSpPr>
        <p:spPr>
          <a:xfrm>
            <a:off x="6438900" y="381000"/>
            <a:ext cx="1066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架构：MVC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模式：分离式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3"/>
          <a:srcRect l="6921" t="3397" r="4295" b="3821"/>
          <a:stretch>
            <a:fillRect/>
          </a:stretch>
        </p:blipFill>
        <p:spPr>
          <a:xfrm>
            <a:off x="6972300" y="1016000"/>
            <a:ext cx="4724400" cy="5549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06400" y="1041400"/>
            <a:ext cx="3708400" cy="2413000"/>
          </a:xfrm>
          <a:prstGeom prst="roundRect">
            <a:avLst>
              <a:gd name="adj" fmla="val 2631"/>
            </a:avLst>
          </a:prstGeom>
          <a:solidFill>
            <a:srgbClr val="DEE0E3">
              <a:alpha val="4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241800" y="1041400"/>
            <a:ext cx="3708400" cy="2413000"/>
          </a:xfrm>
          <a:prstGeom prst="roundRect">
            <a:avLst>
              <a:gd name="adj" fmla="val 2631"/>
            </a:avLst>
          </a:prstGeom>
          <a:solidFill>
            <a:srgbClr val="DEE0E3">
              <a:alpha val="4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8064500" y="1041400"/>
            <a:ext cx="3708400" cy="2413000"/>
          </a:xfrm>
          <a:prstGeom prst="roundRect">
            <a:avLst>
              <a:gd name="adj" fmla="val 2631"/>
            </a:avLst>
          </a:prstGeom>
          <a:solidFill>
            <a:srgbClr val="DEE0E3">
              <a:alpha val="4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cxnSp>
        <p:nvCxnSpPr>
          <p:cNvPr id="5" name="Connector 5"/>
          <p:cNvCxnSpPr/>
          <p:nvPr/>
        </p:nvCxnSpPr>
        <p:spPr>
          <a:xfrm rot="-13171">
            <a:off x="635012" y="1593850"/>
            <a:ext cx="33147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47700" y="12446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效率提升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17399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9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故障树构建时间从数周缩短至分钟级，大幅降低故障排查的时间成本，加速问题响应速度。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803400" y="2286000"/>
            <a:ext cx="21336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分钟级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768600" y="3035300"/>
            <a:ext cx="139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构建周期缩减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3222">
            <a:off x="4432312" y="1593850"/>
            <a:ext cx="33020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4432300" y="12446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知识复用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32300" y="17399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9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将专家的隐性故障诊断经验转化为显性、可复用的结构化知识资产，降低对资深专家的依赖。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600700" y="2286000"/>
            <a:ext cx="21336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资产化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04000" y="3035300"/>
            <a:ext cx="139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经验沉淀传承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3222">
            <a:off x="8267712" y="1606550"/>
            <a:ext cx="33020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8267700" y="12446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诊断准确性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67700" y="17399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9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采用RAG知识增强检索与三层智能校验机制，确保诊断结果具备高可信度与可解释性。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851900" y="2286000"/>
            <a:ext cx="27051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可解释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287000" y="3035300"/>
            <a:ext cx="139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08333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结果真实可靠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06400" y="3530600"/>
            <a:ext cx="11366500" cy="2603500"/>
          </a:xfrm>
          <a:prstGeom prst="roundRect">
            <a:avLst>
              <a:gd name="adj" fmla="val 2439"/>
            </a:avLst>
          </a:prstGeom>
          <a:gradFill rotWithShape="1">
            <a:gsLst>
              <a:gs pos="0">
                <a:srgbClr val="141412">
                  <a:alpha val="100000"/>
                </a:srgbClr>
              </a:gs>
              <a:gs pos="51000">
                <a:srgbClr val="121520">
                  <a:alpha val="100000"/>
                </a:srgbClr>
              </a:gs>
              <a:gs pos="69000">
                <a:srgbClr val="0F1639">
                  <a:alpha val="100000"/>
                </a:srgbClr>
              </a:gs>
              <a:gs pos="79000">
                <a:srgbClr val="0C1751">
                  <a:alpha val="100000"/>
                </a:srgbClr>
              </a:gs>
              <a:gs pos="100000">
                <a:srgbClr val="06187B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47700" y="3759200"/>
            <a:ext cx="3810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多场景与灵活部署覆盖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7700" y="41275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全面支持文本日志分析、设备图片识别、监控视频解析及实时语音通话等多样化交互诊断方式，适配不同场景下的故障定位需求。同时支持本地私有化部署、虚拟机集群部署及Docker容器化部署等多种形态，能够灵活适配企业复杂的IT基础设施环境，兼顾数据安全与系统扩展性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600200" y="5257800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432300" y="4787900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易集成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175500" y="4559300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高兼容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791700" y="4305300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易扩展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1264900" y="3302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应用价值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06400" y="3175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130300" y="3175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FaultTreeAI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Connector 31"/>
          <p:cNvCxnSpPr/>
          <p:nvPr/>
        </p:nvCxnSpPr>
        <p:spPr>
          <a:xfrm rot="-16687">
            <a:off x="647715" y="5505450"/>
            <a:ext cx="2616200" cy="12700"/>
          </a:xfrm>
          <a:prstGeom prst="straightConnector1">
            <a:avLst/>
          </a:prstGeom>
          <a:solidFill>
            <a:srgbClr val="DEE0E3">
              <a:alpha val="35000"/>
            </a:srgbClr>
          </a:solidFill>
          <a:ln w="25400" cap="flat" cmpd="sng">
            <a:solidFill>
              <a:srgbClr val="FFFFFF">
                <a:alpha val="3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2" name="Connector 32"/>
          <p:cNvCxnSpPr/>
          <p:nvPr/>
        </p:nvCxnSpPr>
        <p:spPr>
          <a:xfrm rot="-16687">
            <a:off x="647715" y="5632450"/>
            <a:ext cx="2616200" cy="12700"/>
          </a:xfrm>
          <a:prstGeom prst="straightConnector1">
            <a:avLst/>
          </a:prstGeom>
          <a:solidFill>
            <a:srgbClr val="DEE0E3">
              <a:alpha val="35000"/>
            </a:srgbClr>
          </a:solidFill>
          <a:ln w="25400" cap="flat" cmpd="sng">
            <a:solidFill>
              <a:srgbClr val="FFFFFF">
                <a:alpha val="3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3" name="Connector 33"/>
          <p:cNvCxnSpPr/>
          <p:nvPr/>
        </p:nvCxnSpPr>
        <p:spPr>
          <a:xfrm rot="-16687">
            <a:off x="647715" y="5848350"/>
            <a:ext cx="2616200" cy="12700"/>
          </a:xfrm>
          <a:prstGeom prst="straightConnector1">
            <a:avLst/>
          </a:prstGeom>
          <a:solidFill>
            <a:srgbClr val="DEE0E3">
              <a:alpha val="35000"/>
            </a:srgbClr>
          </a:solidFill>
          <a:ln w="25400" cap="flat" cmpd="sng">
            <a:solidFill>
              <a:srgbClr val="FFFFFF">
                <a:alpha val="3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4" name="Connector 34"/>
          <p:cNvCxnSpPr/>
          <p:nvPr/>
        </p:nvCxnSpPr>
        <p:spPr>
          <a:xfrm rot="-16687">
            <a:off x="647715" y="5734050"/>
            <a:ext cx="2616200" cy="12700"/>
          </a:xfrm>
          <a:prstGeom prst="straightConnector1">
            <a:avLst/>
          </a:prstGeom>
          <a:solidFill>
            <a:srgbClr val="DEE0E3">
              <a:alpha val="35000"/>
            </a:srgbClr>
          </a:solidFill>
          <a:ln w="25400" cap="flat" cmpd="sng">
            <a:solidFill>
              <a:srgbClr val="FFFFFF">
                <a:alpha val="3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5" name="Connector 35"/>
          <p:cNvCxnSpPr/>
          <p:nvPr/>
        </p:nvCxnSpPr>
        <p:spPr>
          <a:xfrm rot="-16769">
            <a:off x="8851915" y="52895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6" name="Connector 36"/>
          <p:cNvCxnSpPr/>
          <p:nvPr/>
        </p:nvCxnSpPr>
        <p:spPr>
          <a:xfrm rot="-16769">
            <a:off x="8851915" y="54038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7" name="Connector 37"/>
          <p:cNvCxnSpPr/>
          <p:nvPr/>
        </p:nvCxnSpPr>
        <p:spPr>
          <a:xfrm rot="-16769">
            <a:off x="8851915" y="56324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8" name="Connector 38"/>
          <p:cNvCxnSpPr/>
          <p:nvPr/>
        </p:nvCxnSpPr>
        <p:spPr>
          <a:xfrm rot="-16769">
            <a:off x="8851915" y="55181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9" name="Connector 39"/>
          <p:cNvCxnSpPr/>
          <p:nvPr/>
        </p:nvCxnSpPr>
        <p:spPr>
          <a:xfrm rot="-16769">
            <a:off x="8851915" y="48323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0" name="Connector 40"/>
          <p:cNvCxnSpPr/>
          <p:nvPr/>
        </p:nvCxnSpPr>
        <p:spPr>
          <a:xfrm rot="-16769">
            <a:off x="8851915" y="49593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1" name="Connector 41"/>
          <p:cNvCxnSpPr/>
          <p:nvPr/>
        </p:nvCxnSpPr>
        <p:spPr>
          <a:xfrm rot="-16769">
            <a:off x="8851915" y="51752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2" name="Connector 42"/>
          <p:cNvCxnSpPr/>
          <p:nvPr/>
        </p:nvCxnSpPr>
        <p:spPr>
          <a:xfrm rot="-16769">
            <a:off x="8851915" y="50609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3" name="Connector 43"/>
          <p:cNvCxnSpPr/>
          <p:nvPr/>
        </p:nvCxnSpPr>
        <p:spPr>
          <a:xfrm rot="-16769">
            <a:off x="8851915" y="47180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4" name="Connector 44"/>
          <p:cNvCxnSpPr/>
          <p:nvPr/>
        </p:nvCxnSpPr>
        <p:spPr>
          <a:xfrm rot="-16769">
            <a:off x="8851915" y="46037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5" name="Connector 45"/>
          <p:cNvCxnSpPr/>
          <p:nvPr/>
        </p:nvCxnSpPr>
        <p:spPr>
          <a:xfrm rot="-16769">
            <a:off x="8851915" y="57340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6" name="Connector 46"/>
          <p:cNvCxnSpPr/>
          <p:nvPr/>
        </p:nvCxnSpPr>
        <p:spPr>
          <a:xfrm rot="-16769">
            <a:off x="8851915" y="58483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7" name="Connector 47"/>
          <p:cNvCxnSpPr/>
          <p:nvPr/>
        </p:nvCxnSpPr>
        <p:spPr>
          <a:xfrm rot="-16687">
            <a:off x="6108715" y="55054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ap="flat" cmpd="sng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8" name="Connector 48"/>
          <p:cNvCxnSpPr/>
          <p:nvPr/>
        </p:nvCxnSpPr>
        <p:spPr>
          <a:xfrm rot="-16687">
            <a:off x="6108715" y="56197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ap="flat" cmpd="sng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9" name="Connector 49"/>
          <p:cNvCxnSpPr/>
          <p:nvPr/>
        </p:nvCxnSpPr>
        <p:spPr>
          <a:xfrm rot="-16687">
            <a:off x="6108715" y="58483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ap="flat" cmpd="sng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0" name="Connector 50"/>
          <p:cNvCxnSpPr/>
          <p:nvPr/>
        </p:nvCxnSpPr>
        <p:spPr>
          <a:xfrm rot="-16687">
            <a:off x="6108715" y="57340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ap="flat" cmpd="sng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1" name="Connector 51"/>
          <p:cNvCxnSpPr/>
          <p:nvPr/>
        </p:nvCxnSpPr>
        <p:spPr>
          <a:xfrm rot="-16687">
            <a:off x="6108715" y="50482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ap="flat" cmpd="sng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2" name="Connector 52"/>
          <p:cNvCxnSpPr/>
          <p:nvPr/>
        </p:nvCxnSpPr>
        <p:spPr>
          <a:xfrm rot="-16687">
            <a:off x="6108715" y="51752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ap="flat" cmpd="sng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3" name="Connector 53"/>
          <p:cNvCxnSpPr/>
          <p:nvPr/>
        </p:nvCxnSpPr>
        <p:spPr>
          <a:xfrm rot="-16687">
            <a:off x="6108715" y="53911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ap="flat" cmpd="sng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4" name="Connector 54"/>
          <p:cNvCxnSpPr/>
          <p:nvPr/>
        </p:nvCxnSpPr>
        <p:spPr>
          <a:xfrm rot="-16687">
            <a:off x="6108715" y="52768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ap="flat" cmpd="sng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5" name="Connector 55"/>
          <p:cNvCxnSpPr/>
          <p:nvPr/>
        </p:nvCxnSpPr>
        <p:spPr>
          <a:xfrm rot="-16687">
            <a:off x="6108715" y="49339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ap="flat" cmpd="sng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6" name="Connector 56"/>
          <p:cNvCxnSpPr/>
          <p:nvPr/>
        </p:nvCxnSpPr>
        <p:spPr>
          <a:xfrm rot="-16687">
            <a:off x="6108715" y="48196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ap="flat" cmpd="sng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7" name="Connector 57"/>
          <p:cNvCxnSpPr/>
          <p:nvPr/>
        </p:nvCxnSpPr>
        <p:spPr>
          <a:xfrm rot="-16687">
            <a:off x="3365515" y="55054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ap="flat" cmpd="sng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8" name="Connector 58"/>
          <p:cNvCxnSpPr/>
          <p:nvPr/>
        </p:nvCxnSpPr>
        <p:spPr>
          <a:xfrm rot="-16687">
            <a:off x="3378215" y="56197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ap="flat" cmpd="sng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9" name="Connector 59"/>
          <p:cNvCxnSpPr/>
          <p:nvPr/>
        </p:nvCxnSpPr>
        <p:spPr>
          <a:xfrm rot="-16687">
            <a:off x="3378215" y="58483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ap="flat" cmpd="sng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0" name="Connector 60"/>
          <p:cNvCxnSpPr/>
          <p:nvPr/>
        </p:nvCxnSpPr>
        <p:spPr>
          <a:xfrm rot="-16687">
            <a:off x="3378215" y="57340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ap="flat" cmpd="sng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1" name="Connector 61"/>
          <p:cNvCxnSpPr/>
          <p:nvPr/>
        </p:nvCxnSpPr>
        <p:spPr>
          <a:xfrm rot="-16687">
            <a:off x="3365515" y="50482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ap="flat" cmpd="sng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2" name="Connector 62"/>
          <p:cNvCxnSpPr/>
          <p:nvPr/>
        </p:nvCxnSpPr>
        <p:spPr>
          <a:xfrm rot="-16687">
            <a:off x="3378215" y="51625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ap="flat" cmpd="sng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3" name="Connector 63"/>
          <p:cNvCxnSpPr/>
          <p:nvPr/>
        </p:nvCxnSpPr>
        <p:spPr>
          <a:xfrm rot="-16687">
            <a:off x="3378215" y="53784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ap="flat" cmpd="sng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4" name="Connector 64"/>
          <p:cNvCxnSpPr/>
          <p:nvPr/>
        </p:nvCxnSpPr>
        <p:spPr>
          <a:xfrm rot="-16687">
            <a:off x="3378215" y="52768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ap="flat" cmpd="sng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406400" y="3302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项目总结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130300" y="330200"/>
            <a:ext cx="1016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智能诊断系统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049000" y="317500"/>
            <a:ext cx="762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AI+IND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06400" y="3048000"/>
            <a:ext cx="11379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FaultTreeAI = 工业知识库 + 大模型 + FTA 算法 + 多模态交互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06400" y="4191000"/>
            <a:ext cx="11379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总结：打造工业设备的智能故障诊断助手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06400" y="5588000"/>
            <a:ext cx="11379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我们的目标是让复杂设备的故障分析，从过去的“专家依赖”模式，走向高效、智能的“人机协同”新时代，为工业生产的安全稳定运行提供可复制、可规模化的智能保障。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1618</Words>
  <Application>Microsoft Office PowerPoint</Application>
  <PresentationFormat>宽屏</PresentationFormat>
  <Paragraphs>324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ChillDuanSans WideSemiBold</vt:lpstr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王 朝东</cp:lastModifiedBy>
  <cp:revision>1</cp:revision>
  <dcterms:modified xsi:type="dcterms:W3CDTF">2026-07-19T03:22:17Z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{"Label":"1","ContentProducer":"001191110102MACQD9K64010000","ProduceID":"7664073233699965908","ReservedCode1":"","ContentPropagator":"","PropagateID":"","ReservedCode2":""}</vt:lpwstr>
  </property>
</Properties>
</file>